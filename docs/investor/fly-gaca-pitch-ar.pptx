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DF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8EDF2"/>
                </a:solidFill>
                <a:latin typeface="Arial"/>
              </a:rPr>
              <a:t>إجمالي الإيراد المتوقّع (ألف ﷼)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متحفّظ</c:v>
                </c:pt>
              </c:strCache>
            </c:strRef>
          </c:tx>
          <c:spPr>
            <a:solidFill>
              <a:srgbClr val="2D6E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8ED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السنة 1</c:v>
                  </c:pt>
                  <c:pt idx="1">
                    <c:v>السنة 2</c:v>
                  </c:pt>
                  <c:pt idx="2">
                    <c:v>السنة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620</c:v>
                </c:pt>
                <c:pt idx="2">
                  <c:v>1800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أساسي</c:v>
                </c:pt>
              </c:strCache>
            </c:strRef>
          </c:tx>
          <c:spPr>
            <a:solidFill>
              <a:srgbClr val="8FC9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8ED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السنة 1</c:v>
                  </c:pt>
                  <c:pt idx="1">
                    <c:v>السنة 2</c:v>
                  </c:pt>
                  <c:pt idx="2">
                    <c:v>السنة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270</c:v>
                </c:pt>
                <c:pt idx="1">
                  <c:v>980</c:v>
                </c:pt>
                <c:pt idx="2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متفائل</c:v>
                </c:pt>
              </c:strCache>
            </c:strRef>
          </c:tx>
          <c:spPr>
            <a:solidFill>
              <a:srgbClr val="C8A0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8ED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السنة 1</c:v>
                  </c:pt>
                  <c:pt idx="1">
                    <c:v>السنة 2</c:v>
                  </c:pt>
                  <c:pt idx="2">
                    <c:v>السنة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400</c:v>
                </c:pt>
                <c:pt idx="1">
                  <c:v>1600</c:v>
                </c:pt>
                <c:pt idx="2">
                  <c:v>5200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E8EDF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DA9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A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5A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DA9B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DF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8EDF2"/>
                </a:solidFill>
                <a:latin typeface="Arial"/>
              </a:rPr>
              <a:t>استخدام الأموال (٪)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استخدام الأموال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9CB8"/>
              </a:solidFill>
              <a:effectLst/>
            </c:spPr>
          </c:dPt>
          <c:dPt>
            <c:idx val="1"/>
            <c:bubble3D val="0"/>
            <c:spPr>
              <a:solidFill>
                <a:srgbClr val="8FC9A8"/>
              </a:solidFill>
              <a:effectLst/>
            </c:spPr>
          </c:dPt>
          <c:dPt>
            <c:idx val="2"/>
            <c:bubble3D val="0"/>
            <c:spPr>
              <a:solidFill>
                <a:srgbClr val="C8A04A"/>
              </a:solidFill>
              <a:effectLst/>
            </c:spPr>
          </c:dPt>
          <c:dPt>
            <c:idx val="3"/>
            <c:bubble3D val="0"/>
            <c:spPr>
              <a:solidFill>
                <a:srgbClr val="2D6E8A"/>
              </a:solidFill>
              <a:effectLst/>
            </c:spPr>
          </c:dPt>
          <c:dPt>
            <c:idx val="4"/>
            <c:bubble3D val="0"/>
            <c:spPr>
              <a:solidFill>
                <a:srgbClr val="9DA9B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A0E12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A0E12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A0E12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A0E12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A0E12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منتج ومحتوى</c:v>
                </c:pt>
                <c:pt idx="1">
                  <c:v>مبيعات B2B وشراكات</c:v>
                </c:pt>
                <c:pt idx="2">
                  <c:v>تسويق ونمو</c:v>
                </c:pt>
                <c:pt idx="3">
                  <c:v>توظيف</c:v>
                </c:pt>
                <c:pt idx="4">
                  <c:v>تشغيل وبنية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9DA9B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E8A"/>
          </a:solidFill>
          <a:ln/>
        </p:spPr>
      </p:sp>
      <p:pic>
        <p:nvPicPr>
          <p:cNvPr id="3" name="Image 0" descr="/home/user/FlyGACA-app/public/img/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40080"/>
            <a:ext cx="1005840" cy="100584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71323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</a:t>
            </a:r>
            <a:endParaRPr lang="ar-SA" sz="2200" dirty="0"/>
          </a:p>
        </p:txBody>
      </p:sp>
      <p:sp>
        <p:nvSpPr>
          <p:cNvPr id="5" name="Text 2"/>
          <p:cNvSpPr/>
          <p:nvPr/>
        </p:nvSpPr>
        <p:spPr>
          <a:xfrm>
            <a:off x="1097280" y="2103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مكتبة الطيران المدني السعودي،</a:t>
            </a:r>
            <a:endParaRPr lang="ar-SA" sz="4000" dirty="0"/>
          </a:p>
        </p:txBody>
      </p:sp>
      <p:sp>
        <p:nvSpPr>
          <p:cNvPr id="6" name="Text 3"/>
          <p:cNvSpPr/>
          <p:nvPr/>
        </p:nvSpPr>
        <p:spPr>
          <a:xfrm>
            <a:off x="1097280" y="292608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40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وكابتن واحد </a:t>
            </a:r>
            <a:pPr algn="r" indent="0" marL="0">
              <a:buNone/>
            </a:pPr>
            <a:r>
              <a:rPr lang="ar-SA" altLang="en-US" sz="4000" b="1" dirty="0">
                <a:solidFill>
                  <a:srgbClr val="E0C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يعرف الإجابة.</a:t>
            </a:r>
            <a:endParaRPr lang="ar-SA" sz="4000" dirty="0"/>
          </a:p>
        </p:txBody>
      </p:sp>
      <p:sp>
        <p:nvSpPr>
          <p:cNvPr id="7" name="Text 4"/>
          <p:cNvSpPr/>
          <p:nvPr/>
        </p:nvSpPr>
        <p:spPr>
          <a:xfrm>
            <a:off x="201168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تعليمية مستقلة ومكتبة تنظيمية مفتوحة للطيران المدني السعودي — بالعربية والإنجليزية.</a:t>
            </a:r>
            <a:endParaRPr lang="ar-SA" sz="1600" dirty="0"/>
          </a:p>
        </p:txBody>
      </p:sp>
      <p:sp>
        <p:nvSpPr>
          <p:cNvPr id="8" name="Text 5"/>
          <p:cNvSpPr/>
          <p:nvPr/>
        </p:nvSpPr>
        <p:spPr>
          <a:xfrm>
            <a:off x="7178040" y="489204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C8A04A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فرصة استثمارية · جولة بذرة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06440" y="48920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D6E8A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 حيّ في الإنتاج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9728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منصّة مستقلة وغير تابعة للهيئة العامة للطيران المدني (GACA) — تحقّق دائماً من المصدر الرسمي.</a:t>
            </a:r>
            <a:endParaRPr lang="ar-SA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640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النبذة التعريفية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0" y="96012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Fly GACA؟</a:t>
            </a:r>
            <a:endParaRPr lang="ar-SA" sz="3200" dirty="0"/>
          </a:p>
        </p:txBody>
      </p:sp>
      <p:sp>
        <p:nvSpPr>
          <p:cNvPr id="4" name="Text 2"/>
          <p:cNvSpPr/>
          <p:nvPr/>
        </p:nvSpPr>
        <p:spPr>
          <a:xfrm>
            <a:off x="4206240" y="1874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سعودية تحوّل آلاف صفحات الأنظمة الرسمية المبعثرة إلى مرجع واحد قابل للبحث، وأدوات طيران عملية، ومساعد ذكي يعلّم كيف تتحقق من المصدر — لا كيف تحفظ.</a:t>
            </a:r>
            <a:endParaRPr lang="ar-SA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3502152" cy="2651760"/>
          </a:xfrm>
          <a:prstGeom prst="roundRect">
            <a:avLst>
              <a:gd name="adj" fmla="val 3103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56432" y="3566160"/>
            <a:ext cx="256032" cy="256032"/>
          </a:xfrm>
          <a:prstGeom prst="ellipse">
            <a:avLst/>
          </a:prstGeom>
          <a:solidFill>
            <a:srgbClr val="4A9CB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520440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الرسالة</a:t>
            </a:r>
            <a:endParaRPr lang="ar-SA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304495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 نكون «قمرة القيادة الرقمية» للطيران المدني السعودي — مكان واحد يجد فيه الطيّار والطالب والمدرّب النظام، يفهمه، ويطبّقه بلغته.</a:t>
            </a:r>
            <a:endParaRPr lang="ar-SA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3246120"/>
            <a:ext cx="3502152" cy="2651760"/>
          </a:xfrm>
          <a:prstGeom prst="roundRect">
            <a:avLst>
              <a:gd name="adj" fmla="val 3103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214616" y="3566160"/>
            <a:ext cx="256032" cy="256032"/>
          </a:xfrm>
          <a:prstGeom prst="ellipse">
            <a:avLst/>
          </a:prstGeom>
          <a:solidFill>
            <a:srgbClr val="8FC9A8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3520440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الحالي</a:t>
            </a:r>
            <a:endParaRPr lang="ar-SA" sz="1700" dirty="0"/>
          </a:p>
        </p:txBody>
      </p:sp>
      <p:sp>
        <p:nvSpPr>
          <p:cNvPr id="12" name="Text 10"/>
          <p:cNvSpPr/>
          <p:nvPr/>
        </p:nvSpPr>
        <p:spPr>
          <a:xfrm>
            <a:off x="4626864" y="4114800"/>
            <a:ext cx="304495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 مبنيّ ومطلق: إعادة البناء الكاملة (React/TypeScript) اكتملت وتُنشر تلقائياً — المكتبة، كابتن عادل، 55 أداة، ومركز الدراسة كلها حيّة.</a:t>
            </a:r>
            <a:endParaRPr lang="ar-SA" sz="1250" dirty="0"/>
          </a:p>
        </p:txBody>
      </p:sp>
      <p:sp>
        <p:nvSpPr>
          <p:cNvPr id="13" name="Shape 11"/>
          <p:cNvSpPr/>
          <p:nvPr/>
        </p:nvSpPr>
        <p:spPr>
          <a:xfrm>
            <a:off x="8156448" y="3246120"/>
            <a:ext cx="3502152" cy="2651760"/>
          </a:xfrm>
          <a:prstGeom prst="roundRect">
            <a:avLst>
              <a:gd name="adj" fmla="val 3103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72800" y="3566160"/>
            <a:ext cx="256032" cy="256032"/>
          </a:xfrm>
          <a:prstGeom prst="ellipse">
            <a:avLst/>
          </a:prstGeom>
          <a:solidFill>
            <a:srgbClr val="C8A04A"/>
          </a:solidFill>
          <a:ln/>
        </p:spPr>
      </p:sp>
      <p:sp>
        <p:nvSpPr>
          <p:cNvPr id="15" name="Text 13"/>
          <p:cNvSpPr/>
          <p:nvPr/>
        </p:nvSpPr>
        <p:spPr>
          <a:xfrm>
            <a:off x="8385048" y="3520440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اللحظة</a:t>
            </a:r>
            <a:endParaRPr lang="ar-SA" sz="1700" dirty="0"/>
          </a:p>
        </p:txBody>
      </p:sp>
      <p:sp>
        <p:nvSpPr>
          <p:cNvPr id="16" name="Text 14"/>
          <p:cNvSpPr/>
          <p:nvPr/>
        </p:nvSpPr>
        <p:spPr>
          <a:xfrm>
            <a:off x="8385048" y="4114800"/>
            <a:ext cx="304495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الإيراد عمداً: الجدران المدفوعة مفتوحة لبناء القاعدة. البنية التجارية (Stripe، المقاعد، الحزم) مبنية وجاهزة — التمويل يحوّل المفتاح للنمو.</a:t>
            </a:r>
            <a:endParaRPr lang="ar-SA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فرصة استثمارية · سرّي</a:t>
            </a:r>
            <a:endParaRPr lang="ar-SA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0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CF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200400" y="9601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الأنظمة موجودة — لكنها غير قابلة للاستعمال</a:t>
            </a:r>
            <a:endParaRPr lang="ar-SA" sz="3200" dirty="0"/>
          </a:p>
        </p:txBody>
      </p:sp>
      <p:sp>
        <p:nvSpPr>
          <p:cNvPr id="4" name="Text 2"/>
          <p:cNvSpPr/>
          <p:nvPr/>
        </p:nvSpPr>
        <p:spPr>
          <a:xfrm>
            <a:off x="411480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تسارع قطاع الطيران السعودي ضمن رؤية 2030، يزداد من يحتاج إتقان الأنظمة — بينما تبقى أدوات التعلّم متخلّفة.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3309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04104" y="2907792"/>
            <a:ext cx="384048" cy="384048"/>
          </a:xfrm>
          <a:prstGeom prst="ellipse">
            <a:avLst/>
          </a:prstGeom>
          <a:solidFill>
            <a:srgbClr val="CF6B52"/>
          </a:solidFill>
          <a:ln/>
        </p:spPr>
      </p:sp>
      <p:sp>
        <p:nvSpPr>
          <p:cNvPr id="7" name="Text 5"/>
          <p:cNvSpPr/>
          <p:nvPr/>
        </p:nvSpPr>
        <p:spPr>
          <a:xfrm>
            <a:off x="5404104" y="29260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مبعثرة وبالإنجليزية فقط</a:t>
            </a:r>
            <a:endParaRPr lang="ar-SA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364992"/>
            <a:ext cx="4782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PDF ضخمة موزّعة، بلا بحث موحّد ولا نسخة عربية أصيلة.</a:t>
            </a:r>
            <a:endParaRPr lang="ar-SA" sz="1250" dirty="0"/>
          </a:p>
        </p:txBody>
      </p:sp>
      <p:sp>
        <p:nvSpPr>
          <p:cNvPr id="10" name="Shape 8"/>
          <p:cNvSpPr/>
          <p:nvPr/>
        </p:nvSpPr>
        <p:spPr>
          <a:xfrm>
            <a:off x="6245352" y="2651760"/>
            <a:ext cx="53309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009376" y="2907792"/>
            <a:ext cx="384048" cy="384048"/>
          </a:xfrm>
          <a:prstGeom prst="ellipse">
            <a:avLst/>
          </a:prstGeom>
          <a:solidFill>
            <a:srgbClr val="CF6B52"/>
          </a:solidFill>
          <a:ln/>
        </p:spPr>
      </p:sp>
      <p:sp>
        <p:nvSpPr>
          <p:cNvPr id="12" name="Text 10"/>
          <p:cNvSpPr/>
          <p:nvPr/>
        </p:nvSpPr>
        <p:spPr>
          <a:xfrm>
            <a:off x="11009376" y="29260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2880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صعبة على المبتدئ</a:t>
            </a:r>
            <a:endParaRPr lang="ar-SA" sz="1600" dirty="0"/>
          </a:p>
        </p:txBody>
      </p:sp>
      <p:sp>
        <p:nvSpPr>
          <p:cNvPr id="14" name="Text 12"/>
          <p:cNvSpPr/>
          <p:nvPr/>
        </p:nvSpPr>
        <p:spPr>
          <a:xfrm>
            <a:off x="6519672" y="3364992"/>
            <a:ext cx="4782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مسار دراسي واضح، ولا ربط بين النظام والأداة العملية.</a:t>
            </a:r>
            <a:endParaRPr lang="ar-SA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53309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04104" y="4599432"/>
            <a:ext cx="384048" cy="384048"/>
          </a:xfrm>
          <a:prstGeom prst="ellipse">
            <a:avLst/>
          </a:prstGeom>
          <a:solidFill>
            <a:srgbClr val="CF6B52"/>
          </a:solidFill>
          <a:ln/>
        </p:spPr>
      </p:sp>
      <p:sp>
        <p:nvSpPr>
          <p:cNvPr id="17" name="Text 15"/>
          <p:cNvSpPr/>
          <p:nvPr/>
        </p:nvSpPr>
        <p:spPr>
          <a:xfrm>
            <a:off x="5404104" y="46177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قياس للجاهزية</a:t>
            </a:r>
            <a:endParaRPr lang="ar-SA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5056632"/>
            <a:ext cx="4782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المدارس تدرّب من PDF يدوياً، بلا لوحة تتابع من هو «جاهز للاختبار».</a:t>
            </a:r>
            <a:endParaRPr lang="ar-SA" sz="1250" dirty="0"/>
          </a:p>
        </p:txBody>
      </p:sp>
      <p:sp>
        <p:nvSpPr>
          <p:cNvPr id="20" name="Shape 18"/>
          <p:cNvSpPr/>
          <p:nvPr/>
        </p:nvSpPr>
        <p:spPr>
          <a:xfrm>
            <a:off x="6245352" y="4343400"/>
            <a:ext cx="53309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009376" y="4599432"/>
            <a:ext cx="384048" cy="384048"/>
          </a:xfrm>
          <a:prstGeom prst="ellipse">
            <a:avLst/>
          </a:prstGeom>
          <a:solidFill>
            <a:srgbClr val="CF6B52"/>
          </a:solidFill>
          <a:ln/>
        </p:spPr>
      </p:sp>
      <p:sp>
        <p:nvSpPr>
          <p:cNvPr id="22" name="Text 20"/>
          <p:cNvSpPr/>
          <p:nvPr/>
        </p:nvSpPr>
        <p:spPr>
          <a:xfrm>
            <a:off x="11009376" y="46177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9672" y="457200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ذكاء اصطناعي غير موثوق</a:t>
            </a:r>
            <a:endParaRPr lang="ar-SA" sz="1600" dirty="0"/>
          </a:p>
        </p:txBody>
      </p:sp>
      <p:sp>
        <p:nvSpPr>
          <p:cNvPr id="24" name="Text 22"/>
          <p:cNvSpPr/>
          <p:nvPr/>
        </p:nvSpPr>
        <p:spPr>
          <a:xfrm>
            <a:off x="6519672" y="5056632"/>
            <a:ext cx="4782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يخترع إجابات بلا استشهاد بالمصدر — خطر في مجال منظّم.</a:t>
            </a:r>
            <a:endParaRPr lang="ar-SA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فرصة استثمارية · سرّي</a:t>
            </a:r>
            <a:endParaRPr lang="ar-SA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640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 / الحل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291840" y="960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مرجع واحد + أدوات + مساعد يستشهد بالمصدر</a:t>
            </a:r>
            <a:endParaRPr lang="ar-SA" sz="3200" dirty="0"/>
          </a:p>
        </p:txBody>
      </p:sp>
      <p:sp>
        <p:nvSpPr>
          <p:cNvPr id="4" name="Text 2"/>
          <p:cNvSpPr/>
          <p:nvPr/>
        </p:nvSpPr>
        <p:spPr>
          <a:xfrm>
            <a:off x="4572000" y="1828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حوّلنا الأنظمة الرسمية إلى بيانات منظّمة نظيفة (JSON) — أصل هندسي حقيقي — وبنينا فوقه ثلاث طبقات.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02152" cy="3108960"/>
          </a:xfrm>
          <a:prstGeom prst="roundRect">
            <a:avLst>
              <a:gd name="adj" fmla="val 2647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743200"/>
            <a:ext cx="3502152" cy="91440"/>
          </a:xfrm>
          <a:prstGeom prst="rect">
            <a:avLst/>
          </a:prstGeom>
          <a:solidFill>
            <a:srgbClr val="4A9CB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306324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spc="1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اعثر عليه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347472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المكتبة التنظيمية</a:t>
            </a:r>
            <a:endParaRPr lang="ar-SA" sz="1900" dirty="0"/>
          </a:p>
        </p:txBody>
      </p:sp>
      <p:sp>
        <p:nvSpPr>
          <p:cNvPr id="9" name="Text 7"/>
          <p:cNvSpPr/>
          <p:nvPr/>
        </p:nvSpPr>
        <p:spPr>
          <a:xfrm>
            <a:off x="896112" y="416052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نظام GACAR مرقّم + 205 وثيقة عالمية (ICAO/FAA/EASA) + 21 دليلاً — قابلة للبحث فوريّاً، مجاناً للأبد.</a:t>
            </a:r>
            <a:endParaRPr lang="ar-SA" sz="1300" dirty="0"/>
          </a:p>
        </p:txBody>
      </p:sp>
      <p:sp>
        <p:nvSpPr>
          <p:cNvPr id="10" name="Shape 8"/>
          <p:cNvSpPr/>
          <p:nvPr/>
        </p:nvSpPr>
        <p:spPr>
          <a:xfrm>
            <a:off x="4398264" y="2743200"/>
            <a:ext cx="3502152" cy="3108960"/>
          </a:xfrm>
          <a:prstGeom prst="roundRect">
            <a:avLst>
              <a:gd name="adj" fmla="val 2647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8264" y="2743200"/>
            <a:ext cx="3502152" cy="91440"/>
          </a:xfrm>
          <a:prstGeom prst="rect">
            <a:avLst/>
          </a:prstGeom>
          <a:solidFill>
            <a:srgbClr val="8FC9A8"/>
          </a:solidFill>
          <a:ln/>
        </p:spPr>
      </p:sp>
      <p:sp>
        <p:nvSpPr>
          <p:cNvPr id="12" name="Text 10"/>
          <p:cNvSpPr/>
          <p:nvPr/>
        </p:nvSpPr>
        <p:spPr>
          <a:xfrm>
            <a:off x="4654296" y="306324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spc="100" kern="0" dirty="0">
                <a:solidFill>
                  <a:srgbClr val="8F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طبّقه</a:t>
            </a:r>
            <a:endParaRPr lang="ar-SA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347472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أداة طيران</a:t>
            </a:r>
            <a:endParaRPr lang="ar-SA" sz="1900" dirty="0"/>
          </a:p>
        </p:txBody>
      </p:sp>
      <p:sp>
        <p:nvSpPr>
          <p:cNvPr id="14" name="Text 12"/>
          <p:cNvSpPr/>
          <p:nvPr/>
        </p:nvSpPr>
        <p:spPr>
          <a:xfrm>
            <a:off x="4654296" y="416052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الرياح الجانبية إلى تخطيط المسار وحسابات الوقود — رياضيّات دقيقة وروابط قابلة للمشاركة.</a:t>
            </a:r>
            <a:endParaRPr lang="ar-SA" sz="1300" dirty="0"/>
          </a:p>
        </p:txBody>
      </p:sp>
      <p:sp>
        <p:nvSpPr>
          <p:cNvPr id="15" name="Shape 13"/>
          <p:cNvSpPr/>
          <p:nvPr/>
        </p:nvSpPr>
        <p:spPr>
          <a:xfrm>
            <a:off x="8156448" y="2743200"/>
            <a:ext cx="3502152" cy="3108960"/>
          </a:xfrm>
          <a:prstGeom prst="roundRect">
            <a:avLst>
              <a:gd name="adj" fmla="val 2647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56448" y="2743200"/>
            <a:ext cx="3502152" cy="91440"/>
          </a:xfrm>
          <a:prstGeom prst="rect">
            <a:avLst/>
          </a:prstGeom>
          <a:solidFill>
            <a:srgbClr val="C8A04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306324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spc="100" kern="0" dirty="0">
                <a:solidFill>
                  <a:srgbClr val="C8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افهمه</a:t>
            </a:r>
            <a:endParaRPr lang="ar-SA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347472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كابتن عادل (RAG)</a:t>
            </a:r>
            <a:endParaRPr lang="ar-SA" sz="1900" dirty="0"/>
          </a:p>
        </p:txBody>
      </p:sp>
      <p:sp>
        <p:nvSpPr>
          <p:cNvPr id="19" name="Text 17"/>
          <p:cNvSpPr/>
          <p:nvPr/>
        </p:nvSpPr>
        <p:spPr>
          <a:xfrm>
            <a:off x="8412480" y="416052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ذكي (Genkit + Gemini) يجيب «أين ينصّ النظام على…» ويستشهد بالمادة والفقرة — بالعربية أو الإنجليزية.</a:t>
            </a:r>
            <a:endParaRPr lang="ar-SA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مركز دراسة كامل: بنك أسئلة بـ 13 موضوعاً · 9 وحدات Ground School · 7 مسارات · اختبار محاكاة · حزم تحضير.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فرصة استثمارية · سرّي</a:t>
            </a:r>
            <a:endParaRPr lang="ar-SA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المنتج · الحاجز التنافسي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0" y="9601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أصل محتوى يصعب تكراره</a:t>
            </a:r>
            <a:endParaRPr lang="ar-SA" sz="32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الموئل الدفاعي ليس الكود — بل الكوربوس السعودي المنظّم ثنائي اللغة، ومساعد يستشهد بالمصدر فوقه.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8346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GACAR كامل</a:t>
            </a:r>
            <a:endParaRPr lang="ar-SA" sz="1300" dirty="0"/>
          </a:p>
        </p:txBody>
      </p:sp>
      <p:sp>
        <p:nvSpPr>
          <p:cNvPr id="8" name="Shape 6"/>
          <p:cNvSpPr/>
          <p:nvPr/>
        </p:nvSpPr>
        <p:spPr>
          <a:xfrm>
            <a:off x="4398264" y="265176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26864" y="28346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26864" y="352044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وثيقة مرجعية عالمية</a:t>
            </a:r>
            <a:endParaRPr lang="ar-SA" sz="1300" dirty="0"/>
          </a:p>
        </p:txBody>
      </p:sp>
      <p:sp>
        <p:nvSpPr>
          <p:cNvPr id="11" name="Shape 9"/>
          <p:cNvSpPr/>
          <p:nvPr/>
        </p:nvSpPr>
        <p:spPr>
          <a:xfrm>
            <a:off x="8156448" y="265176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85048" y="28346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1,736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385048" y="352044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تعريفاً تنظيمياً</a:t>
            </a:r>
            <a:endParaRPr lang="ar-SA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25112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507992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68680" y="519379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مطاراً ببيانات</a:t>
            </a:r>
            <a:endParaRPr lang="ar-SA" sz="1300" dirty="0"/>
          </a:p>
        </p:txBody>
      </p:sp>
      <p:sp>
        <p:nvSpPr>
          <p:cNvPr id="17" name="Shape 15"/>
          <p:cNvSpPr/>
          <p:nvPr/>
        </p:nvSpPr>
        <p:spPr>
          <a:xfrm>
            <a:off x="4398264" y="4325112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6864" y="4507992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46,369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626864" y="519379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مدخل بحث في المكتبة</a:t>
            </a:r>
            <a:endParaRPr lang="ar-SA" sz="1300" dirty="0"/>
          </a:p>
        </p:txBody>
      </p:sp>
      <p:sp>
        <p:nvSpPr>
          <p:cNvPr id="20" name="Shape 18"/>
          <p:cNvSpPr/>
          <p:nvPr/>
        </p:nvSpPr>
        <p:spPr>
          <a:xfrm>
            <a:off x="8156448" y="4325112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85048" y="4507992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385048" y="519379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طيران حيّة</a:t>
            </a:r>
            <a:endParaRPr lang="ar-SA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الخلفية على Firebase في منطقة me-central1 (الرياض/الخليج) — سيادة بيانات وقرب من العملاء المؤسسيين · ويب + تطبيق أصلي iOS/Android.</a:t>
            </a:r>
            <a:endParaRPr lang="ar-SA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فرصة استثمارية · سرّي</a:t>
            </a:r>
            <a:endParaRPr lang="ar-SA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66960" y="640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السوق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0" y="9601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يتوسّع مع رؤية 2030</a:t>
            </a:r>
            <a:endParaRPr lang="ar-SA" sz="3200" dirty="0"/>
          </a:p>
        </p:txBody>
      </p:sp>
      <p:sp>
        <p:nvSpPr>
          <p:cNvPr id="4" name="Text 2"/>
          <p:cNvSpPr/>
          <p:nvPr/>
        </p:nvSpPr>
        <p:spPr>
          <a:xfrm>
            <a:off x="411480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تستهدف السعودية أن تكون مركزاً عالمياً للطيران: موجة طيّارين جدد، تحويل تراخيص الطواقم الوافدة، وتوسّع مدارس الطيران — كلهم عملاؤنا.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2697480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2D6E8A"/>
          </a:solidFill>
          <a:ln/>
        </p:spPr>
      </p:sp>
      <p:sp>
        <p:nvSpPr>
          <p:cNvPr id="6" name="Text 4"/>
          <p:cNvSpPr/>
          <p:nvPr/>
        </p:nvSpPr>
        <p:spPr>
          <a:xfrm>
            <a:off x="5989320" y="28254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— السوق الكلي</a:t>
            </a:r>
            <a:endParaRPr lang="ar-SA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28254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 مليون ﷼/سنة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9320" y="320954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تعليم وتحضير الطيران الرقمي في السعودية والخليج</a:t>
            </a:r>
            <a:endParaRPr lang="ar-SA" sz="1050" dirty="0"/>
          </a:p>
        </p:txBody>
      </p:sp>
      <p:sp>
        <p:nvSpPr>
          <p:cNvPr id="9" name="Shape 7"/>
          <p:cNvSpPr/>
          <p:nvPr/>
        </p:nvSpPr>
        <p:spPr>
          <a:xfrm>
            <a:off x="6766560" y="37947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8FC9A8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392277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— القابل للخدمة</a:t>
            </a:r>
            <a:endParaRPr lang="ar-SA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392277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~180 مليون ﷼/سنة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5160" y="430682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مجتمع الطيران السعودي رقمياً + مدارس الطيران</a:t>
            </a:r>
            <a:endParaRPr lang="ar-SA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489204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C8A04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50200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— المستهدف (سنة 3)</a:t>
            </a:r>
            <a:endParaRPr lang="ar-SA" sz="1400" dirty="0"/>
          </a:p>
        </p:txBody>
      </p:sp>
      <p:sp>
        <p:nvSpPr>
          <p:cNvPr id="15" name="Text 13"/>
          <p:cNvSpPr/>
          <p:nvPr/>
        </p:nvSpPr>
        <p:spPr>
          <a:xfrm>
            <a:off x="8046720" y="502005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مليون 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92440" y="54041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حصّتنا الواقعية في أول 3 سنوات (أفراد + B2B)</a:t>
            </a:r>
            <a:endParaRPr lang="ar-SA" sz="1050" dirty="0"/>
          </a:p>
        </p:txBody>
      </p:sp>
      <p:sp>
        <p:nvSpPr>
          <p:cNvPr id="17" name="Text 15"/>
          <p:cNvSpPr/>
          <p:nvPr/>
        </p:nvSpPr>
        <p:spPr>
          <a:xfrm>
            <a:off x="4572000" y="61722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أرقام السوق تقديرية من أعلى لأسفل لأغراض التوضيح، وتحتاج تحقّقاً ميدانياً.</a:t>
            </a:r>
            <a:endParaRPr lang="ar-SA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697480"/>
            <a:ext cx="4480560" cy="1600200"/>
          </a:xfrm>
          <a:prstGeom prst="roundRect">
            <a:avLst>
              <a:gd name="adj" fmla="val 5143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2834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يشتري</a:t>
            </a:r>
            <a:endParaRPr lang="ar-SA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2004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أفراد (B2C): طلاب طيران، طيّارون، مدرّبون، طواقم AIS/ATS.</a:t>
            </a:r>
            <a:endParaRPr lang="ar-SA" sz="1200" dirty="0"/>
          </a:p>
          <a:p>
            <a:pPr rtl="1" algn="r" indent="0" marL="0">
              <a:buNone/>
            </a:pPr>
            <a:r>
              <a:rPr lang="ar-SA" alt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مؤسسات (B2B): مدارس وأكاديميات وشركات تشغيل تشتري مقاعد بفواتير سنوية.</a:t>
            </a:r>
            <a:endParaRPr lang="ar-SA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4480560" cy="1417320"/>
          </a:xfrm>
          <a:prstGeom prst="roundRect">
            <a:avLst>
              <a:gd name="adj" fmla="val 580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617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الآن</a:t>
            </a:r>
            <a:endParaRPr lang="ar-SA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9834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 على الطيّارين في أعلى مستوياته، ولا يوجد منافس سعودي مخصّص ثنائي اللغة يستشهد بالمصدر. نحن الأول.</a:t>
            </a:r>
            <a:endParaRPr lang="ar-SA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فرصة استثمارية · سرّي</a:t>
            </a:r>
            <a:endParaRPr lang="ar-SA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640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الإيرادات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0" y="960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دعائم فوق قاعدة مجانية</a:t>
            </a:r>
            <a:endParaRPr lang="ar-SA" sz="3200" dirty="0"/>
          </a:p>
        </p:txBody>
      </p:sp>
      <p:sp>
        <p:nvSpPr>
          <p:cNvPr id="4" name="Text 2"/>
          <p:cNvSpPr/>
          <p:nvPr/>
        </p:nvSpPr>
        <p:spPr>
          <a:xfrm>
            <a:off x="4572000" y="1828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المكتبة مجانية للأبد (قمّة القِمع)، ثم نحوّل القيمة إلى إيراد بثلاث طرق مبنية وموصولة بالفعل في المنتج.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502152" cy="3154680"/>
          </a:xfrm>
          <a:prstGeom prst="roundRect">
            <a:avLst>
              <a:gd name="adj" fmla="val 2609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97180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b="1" spc="1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دعامة ١</a:t>
            </a:r>
            <a:endParaRPr lang="ar-SA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3319272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اشتراكات الأفراد</a:t>
            </a:r>
            <a:endParaRPr lang="ar-SA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931920"/>
            <a:ext cx="304495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→"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59 ﷼/شهر أو 449 ﷼/سنة</a:t>
            </a:r>
            <a:endParaRPr lang="ar-SA" sz="1250" dirty="0"/>
          </a:p>
          <a:p>
            <a:pPr algn="r" marL="342900" indent="-342900">
              <a:spcAft>
                <a:spcPts val="600"/>
              </a:spcAft>
              <a:buSzPct val="100000"/>
              <a:buChar char="→"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الطالب: 39 ﷼/شهر أو 299 ﷼/سنة</a:t>
            </a:r>
            <a:endParaRPr lang="ar-SA" sz="1250" dirty="0"/>
          </a:p>
          <a:p>
            <a:pPr algn="r" marL="342900" indent="-342900">
              <a:spcAft>
                <a:spcPts val="600"/>
              </a:spcAft>
              <a:buSzPct val="100000"/>
              <a:buChar char="→"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7 أيام · استرداد 30 يوماً</a:t>
            </a:r>
            <a:endParaRPr lang="ar-SA" sz="1250" dirty="0"/>
          </a:p>
          <a:p>
            <a:pPr algn="r" marL="342900" indent="-342900">
              <a:spcAft>
                <a:spcPts val="600"/>
              </a:spcAft>
              <a:buSzPct val="100000"/>
              <a:buChar char="→"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إيراد متكرّر عالي الهامش</a:t>
            </a:r>
            <a:endParaRPr lang="ar-SA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2697480"/>
            <a:ext cx="3502152" cy="3154680"/>
          </a:xfrm>
          <a:prstGeom prst="roundRect">
            <a:avLst>
              <a:gd name="adj" fmla="val 2609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54296" y="297180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b="1" spc="100" kern="0" dirty="0">
                <a:solidFill>
                  <a:srgbClr val="8F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دعامة ٢</a:t>
            </a:r>
            <a:endParaRPr lang="ar-SA" sz="1100" dirty="0"/>
          </a:p>
        </p:txBody>
      </p:sp>
      <p:sp>
        <p:nvSpPr>
          <p:cNvPr id="11" name="Text 9"/>
          <p:cNvSpPr/>
          <p:nvPr/>
        </p:nvSpPr>
        <p:spPr>
          <a:xfrm>
            <a:off x="4654296" y="3319272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مشتريات لمرة واحدة</a:t>
            </a:r>
            <a:endParaRPr lang="ar-SA" sz="1800" dirty="0"/>
          </a:p>
        </p:txBody>
      </p:sp>
      <p:sp>
        <p:nvSpPr>
          <p:cNvPr id="12" name="Text 10"/>
          <p:cNvSpPr/>
          <p:nvPr/>
        </p:nvSpPr>
        <p:spPr>
          <a:xfrm>
            <a:off x="4654296" y="3931920"/>
            <a:ext cx="304495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→"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تصريح الموسم: 149 ﷼ / 90 يوماً</a:t>
            </a:r>
            <a:endParaRPr lang="ar-SA" sz="1250" dirty="0"/>
          </a:p>
          <a:p>
            <a:pPr algn="r" marL="342900" indent="-342900">
              <a:spcAft>
                <a:spcPts val="600"/>
              </a:spcAft>
              <a:buSzPct val="100000"/>
              <a:buChar char="→"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حزم تحضير الاختبارات: 39 ﷼</a:t>
            </a:r>
            <a:endParaRPr lang="ar-SA" sz="1250" dirty="0"/>
          </a:p>
          <a:p>
            <a:pPr algn="r" marL="342900" indent="-342900">
              <a:spcAft>
                <a:spcPts val="600"/>
              </a:spcAft>
              <a:buSzPct val="100000"/>
              <a:buChar char="→"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حزم أسئلة كابتن عادل</a:t>
            </a:r>
            <a:endParaRPr lang="ar-SA" sz="1250" dirty="0"/>
          </a:p>
          <a:p>
            <a:pPr algn="r" marL="342900" indent="-342900">
              <a:spcAft>
                <a:spcPts val="600"/>
              </a:spcAft>
              <a:buSzPct val="100000"/>
              <a:buChar char="→"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مرتفع قرب الاختبارات</a:t>
            </a:r>
            <a:endParaRPr lang="ar-SA" sz="1250" dirty="0"/>
          </a:p>
        </p:txBody>
      </p:sp>
      <p:sp>
        <p:nvSpPr>
          <p:cNvPr id="13" name="Shape 11"/>
          <p:cNvSpPr/>
          <p:nvPr/>
        </p:nvSpPr>
        <p:spPr>
          <a:xfrm>
            <a:off x="8156448" y="2697480"/>
            <a:ext cx="3502152" cy="3154680"/>
          </a:xfrm>
          <a:prstGeom prst="roundRect">
            <a:avLst>
              <a:gd name="adj" fmla="val 2609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97180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b="1" spc="100" kern="0" dirty="0">
                <a:solidFill>
                  <a:srgbClr val="C8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دعامة ٣</a:t>
            </a:r>
            <a:endParaRPr lang="ar-SA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3319272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مقاعد المؤسسات (B2B)</a:t>
            </a:r>
            <a:endParaRPr lang="ar-SA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3931920"/>
            <a:ext cx="304495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→"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Cohort: 6,000 ﷼ للدفعة (25 مقعد)</a:t>
            </a:r>
            <a:endParaRPr lang="ar-SA" sz="1250" dirty="0"/>
          </a:p>
          <a:p>
            <a:pPr algn="r" marL="342900" indent="-342900">
              <a:spcAft>
                <a:spcPts val="600"/>
              </a:spcAft>
              <a:buSzPct val="100000"/>
              <a:buChar char="→"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Academy: 22,000 ﷼/سنة (100)</a:t>
            </a:r>
            <a:endParaRPr lang="ar-SA" sz="1250" dirty="0"/>
          </a:p>
          <a:p>
            <a:pPr algn="r" marL="342900" indent="-342900">
              <a:spcAft>
                <a:spcPts val="600"/>
              </a:spcAft>
              <a:buSzPct val="100000"/>
              <a:buChar char="→"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Institution: من 40,000 ﷼</a:t>
            </a:r>
            <a:endParaRPr lang="ar-SA" sz="1250" dirty="0"/>
          </a:p>
          <a:p>
            <a:pPr algn="r" marL="342900" indent="-342900">
              <a:spcAft>
                <a:spcPts val="600"/>
              </a:spcAft>
              <a:buSzPct val="100000"/>
              <a:buChar char="→"/>
            </a:pPr>
            <a:r>
              <a:rPr lang="ar-SA" altLang="en-US" sz="12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عقود سنوية · احتفاظ مرتفع</a:t>
            </a:r>
            <a:endParaRPr lang="ar-SA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فرصة استثمارية · سرّي</a:t>
            </a:r>
            <a:endParaRPr lang="ar-SA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640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الأسعار الحالية · حقيقية من المنتج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0" y="9601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الأسعار</a:t>
            </a:r>
            <a:endParaRPr lang="ar-SA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97280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2651760"/>
                <a:gridCol w="1920240"/>
                <a:gridCol w="2103120"/>
              </a:tblGrid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ما تفتحه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النموذج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السعر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الباقة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المكتبة الكاملة + 55 أداة + 5 أسئلة/يوم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دائم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5DD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مجاني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كابتن عادل بلا حدود، الاختبارات، التصدير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شهري / سنوي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5DD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 / 449 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كل مزايا Pro ببريد أكاديمي موثّق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شهري / سنوي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5DD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 / 299 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الطالب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وصول Pro كامل بلا اشتراك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لمرة واحدة · 90 يوماً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5DD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 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تصريح الموسم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حزمة اختبار لرخصة محدّدة (PPL، ELP…)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لمرة واحدة · ملكية دائمة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5DD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 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حزمة تحضير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لوحة إدارة + تقارير جاهزية + تهيئة جماعية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لكل مقعد/سنة · فاتورة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5DD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من 250 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المدارس (B2B)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الأسعار فعليّة وموصولة في المنتج (SAR، شامل 15٪ ضريبة للأفراد). أسعار B2B إرشادية تُثبّت مع الشركاء المؤسسين.</a:t>
            </a:r>
            <a:endParaRPr lang="ar-SA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فرصة استثمارية · سرّي</a:t>
            </a:r>
            <a:endParaRPr lang="ar-SA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640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دراسة الجدوى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0" y="9601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اقتصاديّات برمجيات، لا اقتصاديّات محتوى</a:t>
            </a:r>
            <a:endParaRPr lang="ar-SA" sz="3200" dirty="0"/>
          </a:p>
        </p:txBody>
      </p:sp>
      <p:sp>
        <p:nvSpPr>
          <p:cNvPr id="4" name="Text 2"/>
          <p:cNvSpPr/>
          <p:nvPr/>
        </p:nvSpPr>
        <p:spPr>
          <a:xfrm>
            <a:off x="4114800" y="182880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التكلفة الكبرى (بناء الكوربوس والمنتج) أُنجزت. ما تبقّى تكاليف تشغيل خفيفة — هوامش مرتفعة تتحسّن مع كل عميل.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624328" cy="1554480"/>
          </a:xfrm>
          <a:prstGeom prst="roundRect">
            <a:avLst>
              <a:gd name="adj" fmla="val 5294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89864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2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85–90٪</a:t>
            </a:r>
            <a:endParaRPr lang="ar-SA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هامش إجمالي تقديري — تكلفة خدمة منخفضة</a:t>
            </a:r>
            <a:endParaRPr lang="ar-SA" sz="1150" dirty="0"/>
          </a:p>
        </p:txBody>
      </p:sp>
      <p:sp>
        <p:nvSpPr>
          <p:cNvPr id="8" name="Shape 6"/>
          <p:cNvSpPr/>
          <p:nvPr/>
        </p:nvSpPr>
        <p:spPr>
          <a:xfrm>
            <a:off x="3483864" y="2697480"/>
            <a:ext cx="2624328" cy="1554480"/>
          </a:xfrm>
          <a:prstGeom prst="roundRect">
            <a:avLst>
              <a:gd name="adj" fmla="val 5294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66744" y="289864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2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منخفض</a:t>
            </a:r>
            <a:endParaRPr lang="ar-SA" sz="2400" dirty="0"/>
          </a:p>
        </p:txBody>
      </p:sp>
      <p:sp>
        <p:nvSpPr>
          <p:cNvPr id="10" name="Text 8"/>
          <p:cNvSpPr/>
          <p:nvPr/>
        </p:nvSpPr>
        <p:spPr>
          <a:xfrm>
            <a:off x="3666744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تكلفة اكتساب — SEO عضوي + مبيعات بقيادة المؤسس</a:t>
            </a:r>
            <a:endParaRPr lang="ar-SA" sz="1150" dirty="0"/>
          </a:p>
        </p:txBody>
      </p:sp>
      <p:sp>
        <p:nvSpPr>
          <p:cNvPr id="11" name="Shape 9"/>
          <p:cNvSpPr/>
          <p:nvPr/>
        </p:nvSpPr>
        <p:spPr>
          <a:xfrm>
            <a:off x="6327648" y="2697480"/>
            <a:ext cx="2624328" cy="1554480"/>
          </a:xfrm>
          <a:prstGeom prst="roundRect">
            <a:avLst>
              <a:gd name="adj" fmla="val 5294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0528" y="289864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2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مبنيّ</a:t>
            </a:r>
            <a:endParaRPr lang="ar-SA" sz="2400" dirty="0"/>
          </a:p>
        </p:txBody>
      </p:sp>
      <p:sp>
        <p:nvSpPr>
          <p:cNvPr id="13" name="Text 11"/>
          <p:cNvSpPr/>
          <p:nvPr/>
        </p:nvSpPr>
        <p:spPr>
          <a:xfrm>
            <a:off x="6510528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التجارية جاهزة — لا مخاطرة بناء</a:t>
            </a:r>
            <a:endParaRPr lang="ar-SA" sz="1150" dirty="0"/>
          </a:p>
        </p:txBody>
      </p:sp>
      <p:sp>
        <p:nvSpPr>
          <p:cNvPr id="14" name="Shape 12"/>
          <p:cNvSpPr/>
          <p:nvPr/>
        </p:nvSpPr>
        <p:spPr>
          <a:xfrm>
            <a:off x="9171432" y="2697480"/>
            <a:ext cx="2624328" cy="1554480"/>
          </a:xfrm>
          <a:prstGeom prst="roundRect">
            <a:avLst>
              <a:gd name="adj" fmla="val 5294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54312" y="289864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24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متكرّر</a:t>
            </a:r>
            <a:endParaRPr lang="ar-SA" sz="2400" dirty="0"/>
          </a:p>
        </p:txBody>
      </p:sp>
      <p:sp>
        <p:nvSpPr>
          <p:cNvPr id="16" name="Text 14"/>
          <p:cNvSpPr/>
          <p:nvPr/>
        </p:nvSpPr>
        <p:spPr>
          <a:xfrm>
            <a:off x="9354312" y="347472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اشتراكات + عقود سنوية = إيراد متنبَّأ به</a:t>
            </a:r>
            <a:endParaRPr lang="ar-SA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5330952" cy="1508760"/>
          </a:xfrm>
          <a:prstGeom prst="roundRect">
            <a:avLst>
              <a:gd name="adj" fmla="val 5455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663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هذا قابل للتحقيق</a:t>
            </a:r>
            <a:endParaRPr lang="ar-SA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0292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نظام يُضاف، وكل استشهاد يقدّمه كابتن عادل، يزيد القيمة والظهور في البحث. المحتوى السعودي + ثنائية اللغة + الاستشهاد بالمصدر تركيبة يصعب تكرارها.</a:t>
            </a:r>
            <a:endParaRPr lang="ar-SA" sz="1200" dirty="0"/>
          </a:p>
        </p:txBody>
      </p:sp>
      <p:sp>
        <p:nvSpPr>
          <p:cNvPr id="20" name="Shape 18"/>
          <p:cNvSpPr/>
          <p:nvPr/>
        </p:nvSpPr>
        <p:spPr>
          <a:xfrm>
            <a:off x="6227064" y="4526280"/>
            <a:ext cx="5330952" cy="1508760"/>
          </a:xfrm>
          <a:prstGeom prst="roundRect">
            <a:avLst>
              <a:gd name="adj" fmla="val 5455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55664" y="4663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C8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المخاطر والتخفيف</a:t>
            </a:r>
            <a:endParaRPr lang="ar-SA" sz="1300" dirty="0"/>
          </a:p>
        </p:txBody>
      </p:sp>
      <p:sp>
        <p:nvSpPr>
          <p:cNvPr id="22" name="Text 20"/>
          <p:cNvSpPr/>
          <p:nvPr/>
        </p:nvSpPr>
        <p:spPr>
          <a:xfrm>
            <a:off x="6455664" y="50292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افتراض الارتباط بـ GACA → تصريح الاستقلال حرفيّ في كل صفحة. تغيّر الأنظمة (AIRAC) → الكوربوس مُصدَّر ويُزامَن. «ندرّب من PDF» → تقرير الجاهزية هو الإسفين.</a:t>
            </a:r>
            <a:endParaRPr lang="ar-SA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فرصة استثمارية · سرّي</a:t>
            </a:r>
            <a:endParaRPr lang="ar-SA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640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توقعات الدخل · 3 سنوات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9601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نمو بثلاثة سيناريوهات</a:t>
            </a:r>
            <a:endParaRPr lang="ar-SA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94560"/>
          <a:ext cx="72237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001000" y="2423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افتراضات رئيسية</a:t>
            </a:r>
            <a:endParaRPr lang="ar-SA" sz="1300" dirty="0"/>
          </a:p>
        </p:txBody>
      </p:sp>
      <p:sp>
        <p:nvSpPr>
          <p:cNvPr id="6" name="Shape 3"/>
          <p:cNvSpPr/>
          <p:nvPr/>
        </p:nvSpPr>
        <p:spPr>
          <a:xfrm>
            <a:off x="8001000" y="29260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83880" y="3063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2–4٪</a:t>
            </a:r>
            <a:endParaRPr lang="ar-SA" sz="2000" dirty="0"/>
          </a:p>
        </p:txBody>
      </p:sp>
      <p:sp>
        <p:nvSpPr>
          <p:cNvPr id="8" name="Text 5"/>
          <p:cNvSpPr/>
          <p:nvPr/>
        </p:nvSpPr>
        <p:spPr>
          <a:xfrm>
            <a:off x="8183880" y="35478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المجاني → مدفوع (محافظ)</a:t>
            </a:r>
            <a:endParaRPr lang="ar-SA" sz="1150" dirty="0"/>
          </a:p>
        </p:txBody>
      </p:sp>
      <p:sp>
        <p:nvSpPr>
          <p:cNvPr id="9" name="Shape 6"/>
          <p:cNvSpPr/>
          <p:nvPr/>
        </p:nvSpPr>
        <p:spPr>
          <a:xfrm>
            <a:off x="8001000" y="4133088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183880" y="42702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~350 ﷼</a:t>
            </a:r>
            <a:endParaRPr lang="ar-SA" sz="2000" dirty="0"/>
          </a:p>
        </p:txBody>
      </p:sp>
      <p:sp>
        <p:nvSpPr>
          <p:cNvPr id="11" name="Text 8"/>
          <p:cNvSpPr/>
          <p:nvPr/>
        </p:nvSpPr>
        <p:spPr>
          <a:xfrm>
            <a:off x="818388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الإيراد السنوي لكل مشترك</a:t>
            </a:r>
            <a:endParaRPr lang="ar-SA" sz="1150" dirty="0"/>
          </a:p>
        </p:txBody>
      </p:sp>
      <p:sp>
        <p:nvSpPr>
          <p:cNvPr id="12" name="Shape 9"/>
          <p:cNvSpPr/>
          <p:nvPr/>
        </p:nvSpPr>
        <p:spPr>
          <a:xfrm>
            <a:off x="8001000" y="5340096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83880" y="547725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→ 40</a:t>
            </a:r>
            <a:endParaRPr lang="ar-SA" sz="2000" dirty="0"/>
          </a:p>
        </p:txBody>
      </p:sp>
      <p:sp>
        <p:nvSpPr>
          <p:cNvPr id="14" name="Text 11"/>
          <p:cNvSpPr/>
          <p:nvPr/>
        </p:nvSpPr>
        <p:spPr>
          <a:xfrm>
            <a:off x="8183880" y="596188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المدارس المتعاقدة (سنة 1 → 3)</a:t>
            </a:r>
            <a:endParaRPr lang="ar-SA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قائم على افتراضات معلنة لأغراض التقييم — ليس إيراداً محقّقاً.</a:t>
            </a:r>
            <a:endParaRPr lang="ar-SA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640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توقعات الدخل · السيناريو الأساسي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0" y="9601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تفصيل السيناريو الأساسي</a:t>
            </a:r>
            <a:endParaRPr lang="ar-SA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6583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السنة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السنة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السنة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المصدر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8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1,520,000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اشتراكات الأفراد (Pro/الطالب)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مشتريات لمرة واحدة (تصاريح/حزم)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1,280,000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مقاعد المؤسسات (B2B)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A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9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A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9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A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9A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A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الإجمالي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9A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الأرقام بالريال السعودي (﷼). الأسعار المستخدمة في النموذج فعليّة من المنتج.</a:t>
            </a:r>
            <a:endParaRPr lang="ar-SA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فرصة استثمارية · سرّي</a:t>
            </a:r>
            <a:endParaRPr lang="ar-SA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32720" y="640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الفريق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80960" y="9601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مؤسس يبني ويبيع</a:t>
            </a:r>
            <a:endParaRPr lang="ar-SA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10972800" cy="2286000"/>
          </a:xfrm>
          <a:prstGeom prst="roundRect">
            <a:avLst>
              <a:gd name="adj" fmla="val 3600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0" y="288036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2D6E8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30175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🧑‍✈️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{{اسم المؤسس}} — المؤسس والمطوّر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8869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صاحب الفكرة والمطوّر الذي بنى المنصّة كاملة — الواجهة، الخلفية، والكوربوس التنظيمي — وبرمج مساعد كابتن عادل (RAG) بنفسه. منتج حيّ متكامل أنجزه مؤسس واحد: دليل قدرة تنفيذ ورأس مال بشري فعّال.</a:t>
            </a:r>
            <a:endParaRPr lang="ar-SA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الاسم والسيرة placeholder — يملؤها المؤسس قبل الإرسال للمستثمر.</a:t>
            </a:r>
            <a:endParaRPr lang="ar-SA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التمويل يحوّل الفريق من مؤسس-واحد إلى نواة صغيرة: أول توظيفين مطوّر ومسؤول محتوى/مبيعات — لتسريع النمو الذي أثبت المنتج جاهزيته له.</a:t>
            </a:r>
            <a:endParaRPr lang="ar-SA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فرصة استثمارية · سرّي</a:t>
            </a:r>
            <a:endParaRPr lang="ar-SA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32720" y="640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E0C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778240" y="960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البذرة</a:t>
            </a:r>
            <a:endParaRPr lang="ar-SA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0F1A24"/>
          </a:solidFill>
          <a:ln w="15875">
            <a:solidFill>
              <a:srgbClr val="C8A04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514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E0C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2,000,000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﷼ · جولة بذرة (Seed)</a:t>
            </a:r>
            <a:endParaRPr lang="ar-SA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ضمن النطاق القياسي لجولات البذرة في السعودية (1.5–3 مليون ﷼) — قابل للتعديل.</a:t>
            </a:r>
            <a:endParaRPr lang="ar-SA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0" y="2148840"/>
          <a:ext cx="55778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892040"/>
            <a:ext cx="3502152" cy="1234440"/>
          </a:xfrm>
          <a:prstGeom prst="roundRect">
            <a:avLst>
              <a:gd name="adj" fmla="val 6667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502920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C8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معلم يفتحه التمويل</a:t>
            </a:r>
            <a:endParaRPr lang="ar-SA" sz="1000" dirty="0"/>
          </a:p>
        </p:txBody>
      </p:sp>
      <p:sp>
        <p:nvSpPr>
          <p:cNvPr id="11" name="Text 8"/>
          <p:cNvSpPr/>
          <p:nvPr/>
        </p:nvSpPr>
        <p:spPr>
          <a:xfrm>
            <a:off x="841248" y="530352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100 ألف ﷼ ARR</a:t>
            </a:r>
            <a:endParaRPr lang="ar-SA" sz="1500" dirty="0"/>
          </a:p>
        </p:txBody>
      </p:sp>
      <p:sp>
        <p:nvSpPr>
          <p:cNvPr id="12" name="Text 9"/>
          <p:cNvSpPr/>
          <p:nvPr/>
        </p:nvSpPr>
        <p:spPr>
          <a:xfrm>
            <a:off x="841248" y="566928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عقود B2B في النصف الأول</a:t>
            </a:r>
            <a:endParaRPr lang="ar-SA" sz="1100" dirty="0"/>
          </a:p>
        </p:txBody>
      </p:sp>
      <p:sp>
        <p:nvSpPr>
          <p:cNvPr id="13" name="Shape 10"/>
          <p:cNvSpPr/>
          <p:nvPr/>
        </p:nvSpPr>
        <p:spPr>
          <a:xfrm>
            <a:off x="4398264" y="4892040"/>
            <a:ext cx="3502152" cy="1234440"/>
          </a:xfrm>
          <a:prstGeom prst="roundRect">
            <a:avLst>
              <a:gd name="adj" fmla="val 6667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99432" y="502920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C8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معلم يفتحه التمويل</a:t>
            </a:r>
            <a:endParaRPr lang="ar-SA" sz="1000" dirty="0"/>
          </a:p>
        </p:txBody>
      </p:sp>
      <p:sp>
        <p:nvSpPr>
          <p:cNvPr id="15" name="Text 12"/>
          <p:cNvSpPr/>
          <p:nvPr/>
        </p:nvSpPr>
        <p:spPr>
          <a:xfrm>
            <a:off x="4599432" y="530352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إطلاق أصلي</a:t>
            </a:r>
            <a:endParaRPr lang="ar-SA" sz="1500" dirty="0"/>
          </a:p>
        </p:txBody>
      </p:sp>
      <p:sp>
        <p:nvSpPr>
          <p:cNvPr id="16" name="Text 13"/>
          <p:cNvSpPr/>
          <p:nvPr/>
        </p:nvSpPr>
        <p:spPr>
          <a:xfrm>
            <a:off x="4599432" y="566928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تطبيقا iOS/Android مع IAP (RevenueCat)</a:t>
            </a:r>
            <a:endParaRPr lang="ar-SA" sz="1100" dirty="0"/>
          </a:p>
        </p:txBody>
      </p:sp>
      <p:sp>
        <p:nvSpPr>
          <p:cNvPr id="17" name="Shape 14"/>
          <p:cNvSpPr/>
          <p:nvPr/>
        </p:nvSpPr>
        <p:spPr>
          <a:xfrm>
            <a:off x="8156448" y="4892040"/>
            <a:ext cx="3502152" cy="1234440"/>
          </a:xfrm>
          <a:prstGeom prst="roundRect">
            <a:avLst>
              <a:gd name="adj" fmla="val 6667"/>
            </a:avLst>
          </a:prstGeom>
          <a:solidFill>
            <a:srgbClr val="0C141C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357616" y="502920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C8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معلم يفتحه التمويل</a:t>
            </a:r>
            <a:endParaRPr lang="ar-SA" sz="1000" dirty="0"/>
          </a:p>
        </p:txBody>
      </p:sp>
      <p:sp>
        <p:nvSpPr>
          <p:cNvPr id="19" name="Text 16"/>
          <p:cNvSpPr/>
          <p:nvPr/>
        </p:nvSpPr>
        <p:spPr>
          <a:xfrm>
            <a:off x="8357616" y="530352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تفعيل الاشتراكات</a:t>
            </a:r>
            <a:endParaRPr lang="ar-SA" sz="1500" dirty="0"/>
          </a:p>
        </p:txBody>
      </p:sp>
      <p:sp>
        <p:nvSpPr>
          <p:cNvPr id="20" name="Text 17"/>
          <p:cNvSpPr/>
          <p:nvPr/>
        </p:nvSpPr>
        <p:spPr>
          <a:xfrm>
            <a:off x="8357616" y="566928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القاعدة المجانية إلى مدفوعة</a:t>
            </a:r>
            <a:endParaRPr lang="ar-SA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فرصة استثمارية · سرّي</a:t>
            </a:r>
            <a:endParaRPr lang="ar-SA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0" y="640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خارطة الطريق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126480" y="9601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منتج مطلق إلى محرّك إيراد</a:t>
            </a:r>
            <a:endParaRPr lang="ar-SA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2624328" cy="3291840"/>
          </a:xfrm>
          <a:prstGeom prst="roundRect">
            <a:avLst>
              <a:gd name="adj" fmla="val 3136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78608" y="2971800"/>
            <a:ext cx="457200" cy="457200"/>
          </a:xfrm>
          <a:prstGeom prst="ellipse">
            <a:avLst/>
          </a:prstGeom>
          <a:solidFill>
            <a:srgbClr val="4A9CB8"/>
          </a:solidFill>
          <a:ln/>
        </p:spPr>
      </p:sp>
      <p:sp>
        <p:nvSpPr>
          <p:cNvPr id="6" name="Text 4"/>
          <p:cNvSpPr/>
          <p:nvPr/>
        </p:nvSpPr>
        <p:spPr>
          <a:xfrm>
            <a:off x="2578608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3017520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4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الآن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3611880"/>
            <a:ext cx="2221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المنتج حيّ + تفعيل تجاري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443484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البناء اكتملت وتُنشر تلقائياً؛ البنية التجارية جاهزة. نبدأ تفعيل الاشتراكات وأول شركاء B2B.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3483864" y="2651760"/>
            <a:ext cx="2624328" cy="3291840"/>
          </a:xfrm>
          <a:prstGeom prst="roundRect">
            <a:avLst>
              <a:gd name="adj" fmla="val 3136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22392" y="2971800"/>
            <a:ext cx="457200" cy="457200"/>
          </a:xfrm>
          <a:prstGeom prst="ellipse">
            <a:avLst/>
          </a:prstGeom>
          <a:solidFill>
            <a:srgbClr val="8FC9A8"/>
          </a:solidFill>
          <a:ln/>
        </p:spPr>
      </p:sp>
      <p:sp>
        <p:nvSpPr>
          <p:cNvPr id="12" name="Text 10"/>
          <p:cNvSpPr/>
          <p:nvPr/>
        </p:nvSpPr>
        <p:spPr>
          <a:xfrm>
            <a:off x="5422392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85032" y="3017520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8F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 1–2</a:t>
            </a:r>
            <a:endParaRPr lang="ar-SA" sz="1200" dirty="0"/>
          </a:p>
        </p:txBody>
      </p:sp>
      <p:sp>
        <p:nvSpPr>
          <p:cNvPr id="14" name="Text 12"/>
          <p:cNvSpPr/>
          <p:nvPr/>
        </p:nvSpPr>
        <p:spPr>
          <a:xfrm>
            <a:off x="3685032" y="3611880"/>
            <a:ext cx="2221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شركاء مؤسسون + أول ARR</a:t>
            </a:r>
            <a:endParaRPr lang="ar-SA" sz="1500" dirty="0"/>
          </a:p>
        </p:txBody>
      </p:sp>
      <p:sp>
        <p:nvSpPr>
          <p:cNvPr id="15" name="Text 13"/>
          <p:cNvSpPr/>
          <p:nvPr/>
        </p:nvSpPr>
        <p:spPr>
          <a:xfrm>
            <a:off x="3685032" y="443484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مدارس طيران بخصم السنة الأولى، تقارير جاهزية، ودراسة حالة منشورة → أول 100 ألف ﷼.</a:t>
            </a:r>
            <a:endParaRPr lang="ar-SA" sz="1200" dirty="0"/>
          </a:p>
        </p:txBody>
      </p:sp>
      <p:sp>
        <p:nvSpPr>
          <p:cNvPr id="16" name="Shape 14"/>
          <p:cNvSpPr/>
          <p:nvPr/>
        </p:nvSpPr>
        <p:spPr>
          <a:xfrm>
            <a:off x="6327648" y="2651760"/>
            <a:ext cx="2624328" cy="3291840"/>
          </a:xfrm>
          <a:prstGeom prst="roundRect">
            <a:avLst>
              <a:gd name="adj" fmla="val 3136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66176" y="2971800"/>
            <a:ext cx="457200" cy="457200"/>
          </a:xfrm>
          <a:prstGeom prst="ellipse">
            <a:avLst/>
          </a:prstGeom>
          <a:solidFill>
            <a:srgbClr val="E0C5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66176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28816" y="3017520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E0C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 2–3</a:t>
            </a:r>
            <a:endParaRPr lang="ar-SA" sz="1200" dirty="0"/>
          </a:p>
        </p:txBody>
      </p:sp>
      <p:sp>
        <p:nvSpPr>
          <p:cNvPr id="20" name="Text 18"/>
          <p:cNvSpPr/>
          <p:nvPr/>
        </p:nvSpPr>
        <p:spPr>
          <a:xfrm>
            <a:off x="6528816" y="3611880"/>
            <a:ext cx="2221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 الأصلي + مزامنة التقدّم</a:t>
            </a:r>
            <a:endParaRPr lang="ar-SA" sz="1500" dirty="0"/>
          </a:p>
        </p:txBody>
      </p:sp>
      <p:sp>
        <p:nvSpPr>
          <p:cNvPr id="21" name="Text 19"/>
          <p:cNvSpPr/>
          <p:nvPr/>
        </p:nvSpPr>
        <p:spPr>
          <a:xfrm>
            <a:off x="6528816" y="443484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إطلاق iOS/Android مع المدفوعات، ولوحة إدارة B2B، ومزامنة تقدّم الدراسة لتقارير الجاهزية.</a:t>
            </a:r>
            <a:endParaRPr lang="ar-SA" sz="1200" dirty="0"/>
          </a:p>
        </p:txBody>
      </p:sp>
      <p:sp>
        <p:nvSpPr>
          <p:cNvPr id="22" name="Shape 20"/>
          <p:cNvSpPr/>
          <p:nvPr/>
        </p:nvSpPr>
        <p:spPr>
          <a:xfrm>
            <a:off x="9171432" y="2651760"/>
            <a:ext cx="2624328" cy="3291840"/>
          </a:xfrm>
          <a:prstGeom prst="roundRect">
            <a:avLst>
              <a:gd name="adj" fmla="val 3136"/>
            </a:avLst>
          </a:prstGeom>
          <a:solidFill>
            <a:srgbClr val="0F1A24"/>
          </a:solidFill>
          <a:ln w="12700">
            <a:solidFill>
              <a:srgbClr val="2638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1109960" y="2971800"/>
            <a:ext cx="457200" cy="457200"/>
          </a:xfrm>
          <a:prstGeom prst="ellipse">
            <a:avLst/>
          </a:prstGeom>
          <a:solidFill>
            <a:srgbClr val="C8A04A"/>
          </a:solidFill>
          <a:ln/>
        </p:spPr>
      </p:sp>
      <p:sp>
        <p:nvSpPr>
          <p:cNvPr id="24" name="Text 22"/>
          <p:cNvSpPr/>
          <p:nvPr/>
        </p:nvSpPr>
        <p:spPr>
          <a:xfrm>
            <a:off x="11109960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72600" y="3017520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C8A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السنة 2+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9372600" y="3611880"/>
            <a:ext cx="2221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توسّع وتعميق</a:t>
            </a:r>
            <a:endParaRPr lang="ar-SA" sz="1500" dirty="0"/>
          </a:p>
        </p:txBody>
      </p:sp>
      <p:sp>
        <p:nvSpPr>
          <p:cNvPr id="27" name="Text 25"/>
          <p:cNvSpPr/>
          <p:nvPr/>
        </p:nvSpPr>
        <p:spPr>
          <a:xfrm>
            <a:off x="9372600" y="443484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9DA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باقات Academy/Institution، توسّع المحتوى والأدوات، وتعزيز الظهور في البحث والذكاء الاصطناعي.</a:t>
            </a:r>
            <a:endParaRPr lang="ar-SA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ar-SA" alt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· فرصة استثمارية · سرّي</a:t>
            </a:r>
            <a:endParaRPr lang="ar-SA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FlyGACA-app/public/img/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371600"/>
            <a:ext cx="914400" cy="91440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2651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لنبنِ قمرة القيادة الرقمية للطيران السعودي</a:t>
            </a:r>
            <a:endParaRPr lang="ar-SA" sz="3000" dirty="0"/>
          </a:p>
        </p:txBody>
      </p:sp>
      <p:sp>
        <p:nvSpPr>
          <p:cNvPr id="4" name="Text 1"/>
          <p:cNvSpPr/>
          <p:nvPr/>
        </p:nvSpPr>
        <p:spPr>
          <a:xfrm>
            <a:off x="1371600" y="35204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B5D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 مبنيّ · سوق يتوسّع · مؤسس ينفّذ. نبحث عن شريك بذرة.</a:t>
            </a:r>
            <a:endParaRPr lang="ar-SA" sz="1600" dirty="0"/>
          </a:p>
        </p:txBody>
      </p:sp>
      <p:sp>
        <p:nvSpPr>
          <p:cNvPr id="5" name="Text 2"/>
          <p:cNvSpPr/>
          <p:nvPr/>
        </p:nvSpPr>
        <p:spPr>
          <a:xfrm>
            <a:off x="4709160" y="43434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D6E8A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flygaca.com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172200" y="434340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2D6E8A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flygaca@gmail.com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71600" y="58521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8A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GACA منصّة تعليمية مستقلة وغير تابعة للهيئة العامة للطيران المدني (GACA). التوقعات المالية نموذج قائم على افتراضات لأغراض العرض، وليست ضماناً لأداء مستقبلي.</a:t>
            </a:r>
            <a:endParaRPr lang="ar-SA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Fly GACA — فرصة استثمارية</dc:title>
  <dc:subject>PptxGenJS Presentation</dc:subject>
  <dc:creator>Fly GACA</dc:creator>
  <cp:lastModifiedBy>Fly GACA</cp:lastModifiedBy>
  <cp:revision>1</cp:revision>
  <dcterms:created xsi:type="dcterms:W3CDTF">2026-07-20T17:43:34Z</dcterms:created>
  <dcterms:modified xsi:type="dcterms:W3CDTF">2026-07-20T17:43:34Z</dcterms:modified>
</cp:coreProperties>
</file>