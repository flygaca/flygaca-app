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DF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DF2"/>
                </a:solidFill>
                <a:latin typeface="Arial"/>
              </a:rPr>
              <a:t>Projected total revenue (SAR '000)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2D6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620</c:v>
                </c:pt>
                <c:pt idx="2">
                  <c:v>1800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8FC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270</c:v>
                </c:pt>
                <c:pt idx="1">
                  <c:v>980</c:v>
                </c:pt>
                <c:pt idx="2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C8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400</c:v>
                </c:pt>
                <c:pt idx="1">
                  <c:v>1600</c:v>
                </c:pt>
                <c:pt idx="2">
                  <c:v>5200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8ED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A9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5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DA9B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DF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DF2"/>
                </a:solidFill>
                <a:latin typeface="Arial"/>
              </a:rPr>
              <a:t>Use of funds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CB8"/>
              </a:solidFill>
              <a:effectLst/>
            </c:spPr>
          </c:dPt>
          <c:dPt>
            <c:idx val="1"/>
            <c:bubble3D val="0"/>
            <c:spPr>
              <a:solidFill>
                <a:srgbClr val="8FC9A8"/>
              </a:solidFill>
              <a:effectLst/>
            </c:spPr>
          </c:dPt>
          <c:dPt>
            <c:idx val="2"/>
            <c:bubble3D val="0"/>
            <c:spPr>
              <a:solidFill>
                <a:srgbClr val="C8A04A"/>
              </a:solidFill>
              <a:effectLst/>
            </c:spPr>
          </c:dPt>
          <c:dPt>
            <c:idx val="3"/>
            <c:bubble3D val="0"/>
            <c:spPr>
              <a:solidFill>
                <a:srgbClr val="2D6E8A"/>
              </a:solidFill>
              <a:effectLst/>
            </c:spPr>
          </c:dPt>
          <c:dPt>
            <c:idx val="4"/>
            <c:bubble3D val="0"/>
            <c:spPr>
              <a:solidFill>
                <a:srgbClr val="9DA9B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Product &amp; content</c:v>
                </c:pt>
                <c:pt idx="1">
                  <c:v>B2B sales &amp; partnerships</c:v>
                </c:pt>
                <c:pt idx="2">
                  <c:v>Marketing &amp; growth</c:v>
                </c:pt>
                <c:pt idx="3">
                  <c:v>Hiring</c:v>
                </c:pt>
                <c:pt idx="4">
                  <c:v>Operations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9DA9B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E8A"/>
          </a:solidFill>
          <a:ln/>
        </p:spPr>
      </p:sp>
      <p:pic>
        <p:nvPicPr>
          <p:cNvPr id="3" name="Image 0" descr="/home/user/FlyGACA-app/public/img/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005840" cy="10058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97280" y="2148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Saudi regulation,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captain </a:t>
            </a:r>
            <a:pPr algn="l" indent="0" marL="0">
              <a:buNone/>
            </a:pPr>
            <a:r>
              <a:rPr lang="en-US" sz="4000" b="1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answer.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7280" y="4069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educational platform &amp; open regulatory library for Saudi civil aviation — in Arabic and English.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4892040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C8A0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 · Seed Round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48920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D6E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is an independent platform and is not affiliated with the General Authority of Civil Aviation (GACA) — always verify against the official source.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Fly GACA?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specialized Saudi platform that turns thousands of pages of scattered official regulation into a single searchable reference, practical flight tools, and an AI assistant that teaches you how to verify against the source — not how to memorize.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3538728"/>
            <a:ext cx="256032" cy="256032"/>
          </a:xfrm>
          <a:prstGeom prst="ellipse">
            <a:avLst/>
          </a:prstGeom>
          <a:solidFill>
            <a:srgbClr val="4A9CB8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3502152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114800"/>
            <a:ext cx="304495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the digital flight deck for Saudi civil aviation — one place where a pilot, student, or instructor can find the regulation, understand it, and apply it, in their language.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324612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3538728"/>
            <a:ext cx="256032" cy="256032"/>
          </a:xfrm>
          <a:prstGeom prst="ellipse">
            <a:avLst/>
          </a:prstGeom>
          <a:solidFill>
            <a:srgbClr val="8FC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3502152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today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54296" y="4114800"/>
            <a:ext cx="304495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shipped: the full rebuild (React/TypeScript) is live and auto-deploys — the library, Captain Adel, 55 tools, and the study hub are all live.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324612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3538728"/>
            <a:ext cx="256032" cy="256032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5" name="Text 13"/>
          <p:cNvSpPr/>
          <p:nvPr/>
        </p:nvSpPr>
        <p:spPr>
          <a:xfrm>
            <a:off x="8814816" y="3502152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4114800"/>
            <a:ext cx="304495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 by design: paywalls are open to build the base. The commercial machinery (Stripe, seats, packs) is built and ready — funding flips it to growth.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F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regulations exist — but they're unusable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Saudi aviation accelerates under Vision 2030, more people need to master the regulations — while the learning tools lag behind.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90779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926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88036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&amp; English-only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310128"/>
            <a:ext cx="4325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PDFs spread across sources, no unified search, no genuine Arabic version.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265176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1384" y="290779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12" name="Text 10"/>
          <p:cNvSpPr/>
          <p:nvPr/>
        </p:nvSpPr>
        <p:spPr>
          <a:xfrm>
            <a:off x="6501384" y="2926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22592" y="288036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for beginners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22592" y="3310128"/>
            <a:ext cx="4325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study path, no link between the regulation and the practical tool.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59943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6177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57200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readiness signal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001768"/>
            <a:ext cx="4325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train from PDFs by hand, with no dashboard for who is 'ready to sit'.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434340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1384" y="459943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46177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22592" y="457200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is unreliable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22592" y="5001768"/>
            <a:ext cx="4325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invents answers with no source citation — a real risk in a regulated field.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/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+ tools + an assistant that cites the source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turned the official regulations into clean structured data (JSON) — a real engineering asset — and built three layers on top.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3502152" cy="91440"/>
          </a:xfrm>
          <a:prstGeom prst="rect">
            <a:avLst/>
          </a:prstGeom>
          <a:solidFill>
            <a:srgbClr val="4A9CB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0632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474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library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41605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numbered GACAR Part + 205 global reference docs (ICAO/FAA/EASA) + 21 handbooks, instantly searchable — free forever.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8264" y="27432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743200"/>
            <a:ext cx="3502152" cy="91440"/>
          </a:xfrm>
          <a:prstGeom prst="rect">
            <a:avLst/>
          </a:prstGeom>
          <a:solidFill>
            <a:srgbClr val="8FC9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30632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8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3474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flight tools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54296" y="41605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crosswind to route planning, fuel and atmosphere calculations — precise math and shareable links.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6448" y="27432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56448" y="2743200"/>
            <a:ext cx="3502152" cy="91440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0632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Adel (RAG)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41605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(Genkit + Gemini) that answers 'where does the regulation say…' and cites the exact Part &amp; section.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 full study hub: a 13-topic question bank · 9 Ground School modules · 7 study paths · a mock exam · prep packs.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content asset that is hard to replicate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defensible moat isn't the code — it's the structured, bilingual Saudi corpus and a source-citing assistant on top of it. Nobody has that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34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GACAR Parts, complete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8264" y="26517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834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26864" y="35204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docs, global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6448" y="26517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5048" y="2834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85048" y="35204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25112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507992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8680" y="5193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 with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8264" y="4325112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4507992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46,369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26864" y="5193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search entries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6448" y="4325112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85048" y="4507992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385048" y="5193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flight tools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on Firebase in me-central1 (Riyadh/Gulf) — a data-residency edge and proximity to institutional customers · Web + native iOS/Android.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expanding with Vision 2030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Arabia is positioning itself as a global aviation hub: a wave of new pilots, licence conversions for expat crews, and expanding flight schools — all our customers.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2D6E8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254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total market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282549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~SAR 600M/yr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095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aviation education &amp; exam-prep in Saudi Arabia and the Gulf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8FC9A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227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— serviceable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922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~SAR 180M/yr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3068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digitally reachable Saudi aviation community + flight schools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C8A0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200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— target (yr 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50200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~SAR 3M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54041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realistic share over the first 3 years (individuals + B2B)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Market figures are top-down estimates for illustration and require field validation.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697480"/>
            <a:ext cx="4690872" cy="1600200"/>
          </a:xfrm>
          <a:prstGeom prst="roundRect">
            <a:avLst>
              <a:gd name="adj" fmla="val 5143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2834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3200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(B2C): student pilots, pilots, instructors, AIS/ATS crews.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(B2B): schools &amp; operators buying seats on annual invoices.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4480560"/>
            <a:ext cx="469087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86600" y="4617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9834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 pilots is at record highs, and there is no dedicated bilingual Saudi competitor that cites the source. We're first.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 on a free 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library is free forever (top of funnel), then we convert value into revenue three ways — all already built and wired into the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02152" cy="3154680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3319272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subscriptions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931920"/>
            <a:ext cx="3044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SAR 59/mo or 449/yr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SAR 39/mo or 299/yr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trial · 30-day money-back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recurring revenue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2697480"/>
            <a:ext cx="3502152" cy="3154680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54296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54296" y="3319272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54296" y="3931920"/>
            <a:ext cx="3044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Pass: SAR 149 / 90 days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Exam-prep packs: SAR 39 each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Adel question packs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conversion near exams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2697480"/>
            <a:ext cx="3502152" cy="3154680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3319272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seats (B2B)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931920"/>
            <a:ext cx="3044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Cohort: SAR 6,000/intake (25 seats)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Academy: SAR 22,000/yr (100)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 from SAR 40,000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contracts · high retention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PRICING · REAL, FROM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sheet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2651760"/>
                <a:gridCol w="4297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unlocks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library + 55 tools + 5 questions/day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59 / 449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/ annual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 Captain Adel, exams, export, offline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39 / 299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/ annual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Pro features with a verified academic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 Pass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149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· 90 days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 access, no subscription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 pack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· permanent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 pack for a specific licence (PPL, ELP…)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Schools (B2B)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SAR 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seat/yr · invoiced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dashboard + readiness reports + onboarding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live in the product (SAR, incl. 15% VAT for individuals). B2B prices are indicative, to be fixed with design partners.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economics, not content economics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heavy cost (building the corpus and the product) is done. What remains is light, scalable operating cost — high margins that improve with each customer.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85–90%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gross margin — low cost to serve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83864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66744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66744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cost — organic SEO + founder-led sales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7648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10528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machinery ready — no build 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71432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54312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54312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+ annual contracts = predictable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5330952" cy="1508760"/>
          </a:xfrm>
          <a:prstGeom prst="roundRect">
            <a:avLst>
              <a:gd name="adj" fmla="val 5455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achievable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regulation added, and every citation Captain Adel provides, increases value and search visibility. Saudi content + bilingualism + source citation is hard to replicate.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7064" y="4526280"/>
            <a:ext cx="5330952" cy="1508760"/>
          </a:xfrm>
          <a:prstGeom prst="roundRect">
            <a:avLst>
              <a:gd name="adj" fmla="val 5455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5664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55664" y="5029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GACA affiliation → independence disclaimer verbatim everywhere. Regulatory change (AIRAC) → corpus exported &amp; synced. 'We train from PDFs' → the readiness report is the wedge.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PROJECTIONS · 3 YEARS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growth path in three scenarios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94560"/>
          <a:ext cx="7223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0100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01000" y="29260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8388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Free-to-paid conversion (conservative)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4133088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42702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~SAR 350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8388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annual revenue per paying subscriber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5340096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83880" y="547725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40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183880" y="59618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schools (Year 1 → 3)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assumptions-based model for valuation — not realized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PROJECTIONS · BASE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Base-scenario breakdown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9728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194560"/>
                <a:gridCol w="2194560"/>
                <a:gridCol w="21945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subscriptions (Pro/Student)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purchases (passes/packs)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seats (B2B)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1,280,000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(SAR)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in Saudi Riyal (SAR). The prices used in the model are real, from the product.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founder who builds and sells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72800" cy="2286000"/>
          </a:xfrm>
          <a:prstGeom prst="roundRect">
            <a:avLst>
              <a:gd name="adj" fmla="val 3600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803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2D6E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29718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 Yahya Ahmed Madkhali — Founder &amp; Developer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0" y="35204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Conceived the idea and built the entire platform — front end, back end, and the regulatory corpus — and programmed the Captain Adel (RAG) assistant himself (the assistant carries his name). A complete, live product delivered by a single founder: proof of execution and lean human capital.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turns the team from a solo founder into a small core: the first two hires — a developer and a content/sales lead — to accelerate the growth the product is already ready for.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 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0F1A24"/>
          </a:solidFill>
          <a:ln w="15875">
            <a:solidFill>
              <a:srgbClr val="C8A04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06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2,000,000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standard Saudi seed range (SAR 1.5–3M) — adjustable.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2148840"/>
          <a:ext cx="55778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89204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502920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UNLOCKED BY FUNDING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" y="530352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SAR 100k ARR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56692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B2B contracts in H1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98264" y="489204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99432" y="502920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UNLOCKED BY FUNDING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99432" y="530352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launch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99432" y="56692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iOS/Android with IAP (RevenueCat)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56448" y="489204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57616" y="502920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UNLOCKED BY FUNDING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357616" y="530352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activation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57616" y="56692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free base to paying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shipped product to a revenue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944368"/>
            <a:ext cx="457200" cy="457200"/>
          </a:xfrm>
          <a:prstGeom prst="ellipse">
            <a:avLst/>
          </a:prstGeom>
          <a:solidFill>
            <a:srgbClr val="4A9CB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303580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live + activation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complete and auto-deploys; commercial machinery ready. We begin activating subscriptions and first B2B partners.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83864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39896" y="2944368"/>
            <a:ext cx="457200" cy="457200"/>
          </a:xfrm>
          <a:prstGeom prst="ellipse">
            <a:avLst/>
          </a:prstGeom>
          <a:solidFill>
            <a:srgbClr val="8FC9A8"/>
          </a:solidFill>
          <a:ln/>
        </p:spPr>
      </p:sp>
      <p:sp>
        <p:nvSpPr>
          <p:cNvPr id="12" name="Text 10"/>
          <p:cNvSpPr/>
          <p:nvPr/>
        </p:nvSpPr>
        <p:spPr>
          <a:xfrm>
            <a:off x="3739896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06824" y="303580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 + first ARR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flight schools at a first-year discount, readiness reports, and a published case study → first SAR 100k.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944368"/>
            <a:ext cx="457200" cy="457200"/>
          </a:xfrm>
          <a:prstGeom prst="ellipse">
            <a:avLst/>
          </a:prstGeom>
          <a:solidFill>
            <a:srgbClr val="E0C58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0608" y="303580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Q2–Q3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47104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+ progress sync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47104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iOS/Android launch with payments, a B2B admin dashboard, and study-progress sync for readiness reports.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71432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27464" y="2944368"/>
            <a:ext cx="457200" cy="45720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24" name="Text 22"/>
          <p:cNvSpPr/>
          <p:nvPr/>
        </p:nvSpPr>
        <p:spPr>
          <a:xfrm>
            <a:off x="9427464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94392" y="303580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90888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&amp; deepen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90888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Academy/Institution tiers, content &amp; tools expansion, and stronger visibility in search and AI answers.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Investment Opportunity ·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lyGACA-app/public/img/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71600"/>
            <a:ext cx="914400" cy="9144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651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digital flight deck for Saudi aviation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 product · an expanding market · a founder who executes. We're raising a seed round.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80560" y="43434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D6E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flygaca.com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80760" y="43434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2D6E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flygaca@gmail.com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1600" y="58064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is an independent educational platform and is not affiliated with the General Authority of Civil Aviation (GACA). The financial projections are an assumptions-based model for presentation, not a guarantee of future performance.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 GACA — Investment Opportunity</dc:title>
  <dc:subject>PptxGenJS Presentation</dc:subject>
  <dc:creator>Fly GACA</dc:creator>
  <cp:lastModifiedBy>Fly GACA</cp:lastModifiedBy>
  <cp:revision>1</cp:revision>
  <dcterms:created xsi:type="dcterms:W3CDTF">2026-07-20T23:03:25Z</dcterms:created>
  <dcterms:modified xsi:type="dcterms:W3CDTF">2026-07-20T23:03:25Z</dcterms:modified>
</cp:coreProperties>
</file>